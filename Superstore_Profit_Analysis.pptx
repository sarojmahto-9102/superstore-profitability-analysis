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2064314-1580-9133-9360-fe9b7a5be977}">
          <p14:sldIdLst>
            <p14:sldId id="256"/>
            <p14:sldId id="257"/>
            <p14:sldId id="258"/>
            <p14:sldId id="259"/>
          </p14:sldIdLst>
        </p14:section>
        <p14:section name="Findings" id="{731a1298-41c8-2d7f-5d17-4c87017d9c4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mpact and recommendations" id="{d96d93e8-42f9-3f40-d97e-25231c51c2f6}">
          <p14:sldIdLst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Profit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by category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145454.95</c:v>
                </c:pt>
                <c:pt idx="1">
                  <c:v>122490.8</c:v>
                </c:pt>
                <c:pt idx="2">
                  <c:v>18451.27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Total profit by discount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by discount band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$#,##0,&quot;K&quot;;-$#,##0,&quot;K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1-20%</c:v>
                  </c:pt>
                  <c:pt idx="2">
                    <c:v>21-40%</c:v>
                  </c:pt>
                  <c:pt idx="3">
                    <c:v>Over 40%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320987.6</c:v>
                </c:pt>
                <c:pt idx="1">
                  <c:v>100785.47</c:v>
                </c:pt>
                <c:pt idx="2">
                  <c:v>-35817.47</c:v>
                </c:pt>
                <c:pt idx="3">
                  <c:v>-99558.59</c:v>
                </c:pt>
              </c:numCache>
            </c:numRef>
          </c:val>
        </c:ser>
        <c:dLbls>
          <c:numFmt formatCode="$#,##0,&quot;K&quot;;-$#,##0,&quot;K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Total profit by sub-category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by sub-category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$#,##0.0,&quot;K&quot;;-$#,##0.0,&quot;K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Supplies</c:v>
                  </c:pt>
                  <c:pt idx="3">
                    <c:v>Fasteners</c:v>
                  </c:pt>
                  <c:pt idx="4">
                    <c:v>Machines</c:v>
                  </c:pt>
                  <c:pt idx="5">
                    <c:v>Labels</c:v>
                  </c:pt>
                  <c:pt idx="6">
                    <c:v>Art</c:v>
                  </c:pt>
                  <c:pt idx="7">
                    <c:v>Envelopes</c:v>
                  </c:pt>
                  <c:pt idx="8">
                    <c:v>Furnishings</c:v>
                  </c:pt>
                  <c:pt idx="9">
                    <c:v>Appliances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-17725.48</c:v>
                </c:pt>
                <c:pt idx="1">
                  <c:v>-3472.56</c:v>
                </c:pt>
                <c:pt idx="2">
                  <c:v>-1189.1</c:v>
                </c:pt>
                <c:pt idx="3">
                  <c:v>949.52</c:v>
                </c:pt>
                <c:pt idx="4">
                  <c:v>3384.76</c:v>
                </c:pt>
                <c:pt idx="5">
                  <c:v>5546.25</c:v>
                </c:pt>
                <c:pt idx="6">
                  <c:v>6527.79</c:v>
                </c:pt>
                <c:pt idx="7">
                  <c:v>6964.18</c:v>
                </c:pt>
                <c:pt idx="8">
                  <c:v>13059.14</c:v>
                </c:pt>
                <c:pt idx="9">
                  <c:v>18138.01</c:v>
                </c:pt>
              </c:numCache>
            </c:numRef>
          </c:val>
        </c:ser>
        <c:dLbls>
          <c:numFmt formatCode="$#,##0.0,&quot;K&quot;;-$#,##0.0,&quot;K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"/>
          <c:min val="-3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Profit margin by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by category (%)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17.03</c:v>
                </c:pt>
                <c:pt idx="2">
                  <c:v>2.49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Profit margin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by region (%)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South</c:v>
                  </c:pt>
                  <c:pt idx="3">
                    <c:v>Central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14.94</c:v>
                </c:pt>
                <c:pt idx="1">
                  <c:v>13.48</c:v>
                </c:pt>
                <c:pt idx="2">
                  <c:v>11.93</c:v>
                </c:pt>
                <c:pt idx="3">
                  <c:v>7.92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Profit margin by segment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by segment (%)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Home Office</c:v>
                  </c:pt>
                  <c:pt idx="1">
                    <c:v>Corporate</c:v>
                  </c:pt>
                  <c:pt idx="2">
                    <c:v>Consumer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14.03</c:v>
                </c:pt>
                <c:pt idx="1">
                  <c:v>13.03</c:v>
                </c:pt>
                <c:pt idx="2">
                  <c:v>11.55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4A5A70"/>
                </a:solidFill>
                <a:latin typeface="+mn-lt"/>
              </a:rPr>
              <a:t>Total profit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by year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$#,##0.0,&quot;K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284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6C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49543.97</c:v>
                </c:pt>
                <c:pt idx="1">
                  <c:v>61618.6</c:v>
                </c:pt>
                <c:pt idx="2">
                  <c:v>81795.17</c:v>
                </c:pt>
                <c:pt idx="3">
                  <c:v>93439.27</c:v>
                </c:pt>
              </c:numCache>
            </c:numRef>
          </c:val>
        </c:ser>
        <c:dLbls>
          <c:numFmt formatCode="$#,##0.0,&quot;K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4284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A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question: where does Superstore lose profit, and is discounting the cause?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headline: deep discounts destroy profit, Furniture and the Central region are weak spots, and profit is growing.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sub-questions structure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was checked before analysis: no missing values, no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profit is positive but the margin is only 12.47%.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 per order falls from $67 with no discount to a $107 loss above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1,393 orders is 13.9% of 9,994. Their sales are $362,770, 15.8% of total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 lowest-profit sub-categories. Three lose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per product is total profit divided by total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= profit divided by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Central: 7.92%, West: 14.94%.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Estimate: 14.94% of $501,240 is about $74,900, against $39,706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Consumer: $1.16M sales, 11.55%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yearly totals add up to the $286K total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Scenario: 421,773 / 2,297,201 = 18.4%.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discount controls; they have the largest measured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first, then investigate, then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scope: correlation,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cap deep discounts, fix Tables and Central, monitor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C"/>
                </a:solidFill>
              </a:rPr>
              <a:t>Superstore Profit Analysis  |  Saroj Kumar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9"/>
                </a:solidFill>
              </a:rPr>
              <a:t>Superstore Profit Analysis  |  Saroj Kumar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FB3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972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Superstore Profit Analysis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6"/>
                </a:solidFill>
              </a:rPr>
              <a:t>Where is profit being lost, and is discounting the cause?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Prepared by Saroj Kumar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Business data analysis  |  2014-2017  |  October 2026</a:t>
            </a:r>
            <a:endParaRPr lang="en-US" sz="1300" dirty="0"/>
          </a:p>
        </p:txBody>
      </p:sp>
      <p:sp>
        <p:nvSpPr>
          <p:cNvPr id="7" name="cover shape 1"/>
          <p:cNvSpPr/>
          <p:nvPr/>
        </p:nvSpPr>
        <p:spPr>
          <a:xfrm>
            <a:off x="585216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B6CB0"/>
          </a:solidFill>
          <a:ln/>
        </p:spPr>
      </p:sp>
      <p:sp>
        <p:nvSpPr>
          <p:cNvPr id="8" name="cover shape 2"/>
          <p:cNvSpPr/>
          <p:nvPr/>
        </p:nvSpPr>
        <p:spPr>
          <a:xfrm>
            <a:off x="7040880" y="21945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2A9D8F"/>
          </a:solidFill>
          <a:ln/>
        </p:spPr>
      </p:sp>
      <p:sp>
        <p:nvSpPr>
          <p:cNvPr id="9" name="cover shape 3"/>
          <p:cNvSpPr/>
          <p:nvPr/>
        </p:nvSpPr>
        <p:spPr>
          <a:xfrm>
            <a:off x="5852160" y="31089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E0A9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summary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Four findings from 9,994 order lines</a:t>
            </a:r>
            <a:endParaRPr lang="en-US" sz="1400" dirty="0"/>
          </a:p>
        </p:txBody>
      </p:sp>
      <p:sp>
        <p:nvSpPr>
          <p:cNvPr id="5" name="finding 1 card"/>
          <p:cNvSpPr/>
          <p:nvPr/>
        </p:nvSpPr>
        <p:spPr>
          <a:xfrm>
            <a:off x="457200" y="146304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-$135K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16002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Lost on the 1,393 orders discounted above 20%</a:t>
            </a:r>
            <a:endParaRPr lang="en-US" sz="1400" dirty="0"/>
          </a:p>
        </p:txBody>
      </p:sp>
      <p:sp>
        <p:nvSpPr>
          <p:cNvPr id="8" name="finding 2 card"/>
          <p:cNvSpPr/>
          <p:nvPr/>
        </p:nvSpPr>
        <p:spPr>
          <a:xfrm>
            <a:off x="4709160" y="146304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146304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2.5%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6002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Furniture margin, against about 17% for Technology and Office Supplies</a:t>
            </a:r>
            <a:endParaRPr lang="en-US" sz="1400" dirty="0"/>
          </a:p>
        </p:txBody>
      </p:sp>
      <p:sp>
        <p:nvSpPr>
          <p:cNvPr id="11" name="finding 3 card"/>
          <p:cNvSpPr/>
          <p:nvPr/>
        </p:nvSpPr>
        <p:spPr>
          <a:xfrm>
            <a:off x="457200" y="306324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06324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</a:rPr>
              <a:t>7.9%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2004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Central region margin, against 14.9% in West</a:t>
            </a:r>
            <a:endParaRPr lang="en-US" sz="1400" dirty="0"/>
          </a:p>
        </p:txBody>
      </p:sp>
      <p:sp>
        <p:nvSpPr>
          <p:cNvPr id="14" name="finding 4 card"/>
          <p:cNvSpPr/>
          <p:nvPr/>
        </p:nvSpPr>
        <p:spPr>
          <a:xfrm>
            <a:off x="4709160" y="3063240"/>
            <a:ext cx="39776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92040" y="306324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</a:rPr>
              <a:t>+89%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20040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Profit growth from 2014 to 2017: profit rose every year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Business question, motivation and scope</a:t>
            </a:r>
            <a:endParaRPr lang="en-US" sz="1400" dirty="0"/>
          </a:p>
        </p:txBody>
      </p:sp>
      <p:sp>
        <p:nvSpPr>
          <p:cNvPr id="5" name="question card"/>
          <p:cNvSpPr/>
          <p:nvPr/>
        </p:nvSpPr>
        <p:spPr>
          <a:xfrm>
            <a:off x="457200" y="1417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428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4173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Where is Superstore losing profit, and is discounting the cause?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Why it matters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Superstore earns about $2.30M in sales but keeps only a 12.47% profit margin. Management needs to know which products, regions and discount levels reduce profit.</a:t>
            </a:r>
            <a:endParaRPr lang="en-US" sz="1500" dirty="0"/>
          </a:p>
        </p:txBody>
      </p:sp>
      <p:sp>
        <p:nvSpPr>
          <p:cNvPr id="8" name="key question 1"/>
          <p:cNvSpPr/>
          <p:nvPr/>
        </p:nvSpPr>
        <p:spPr>
          <a:xfrm>
            <a:off x="45720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9" name="kq number 1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discount levels make orders unprofitable?</a:t>
            </a:r>
            <a:endParaRPr lang="en-US" sz="1400" dirty="0"/>
          </a:p>
        </p:txBody>
      </p:sp>
      <p:sp>
        <p:nvSpPr>
          <p:cNvPr id="12" name="key question 2"/>
          <p:cNvSpPr/>
          <p:nvPr/>
        </p:nvSpPr>
        <p:spPr>
          <a:xfrm>
            <a:off x="324612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3" name="kq number 2"/>
          <p:cNvSpPr/>
          <p:nvPr/>
        </p:nvSpPr>
        <p:spPr>
          <a:xfrm>
            <a:off x="3429000" y="356616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290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sub-categories and products lose the most money?</a:t>
            </a:r>
            <a:endParaRPr lang="en-US" sz="1400" dirty="0"/>
          </a:p>
        </p:txBody>
      </p:sp>
      <p:sp>
        <p:nvSpPr>
          <p:cNvPr id="16" name="key question 3"/>
          <p:cNvSpPr/>
          <p:nvPr/>
        </p:nvSpPr>
        <p:spPr>
          <a:xfrm>
            <a:off x="6035040" y="338328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7" name="kq number 3"/>
          <p:cNvSpPr/>
          <p:nvPr/>
        </p:nvSpPr>
        <p:spPr>
          <a:xfrm>
            <a:off x="6217920" y="3566160"/>
            <a:ext cx="365760" cy="36576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3474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regions and customer segments have the weakest margin?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and method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structured review of sales, profit, discount and customer performance</a:t>
            </a:r>
            <a:endParaRPr lang="en-US" sz="1400" dirty="0"/>
          </a:p>
        </p:txBody>
      </p:sp>
      <p:sp>
        <p:nvSpPr>
          <p:cNvPr id="5" name="data stat 1 card"/>
          <p:cNvSpPr/>
          <p:nvPr/>
        </p:nvSpPr>
        <p:spPr>
          <a:xfrm>
            <a:off x="457200" y="141732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508760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</a:rPr>
              <a:t>9,994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40941"/>
            <a:ext cx="169164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Order lines</a:t>
            </a:r>
            <a:endParaRPr lang="en-US" sz="1300" dirty="0"/>
          </a:p>
        </p:txBody>
      </p:sp>
      <p:sp>
        <p:nvSpPr>
          <p:cNvPr id="8" name="data stat 2 card"/>
          <p:cNvSpPr/>
          <p:nvPr/>
        </p:nvSpPr>
        <p:spPr>
          <a:xfrm>
            <a:off x="2560320" y="141732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60320" y="1508760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21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040941"/>
            <a:ext cx="169164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Columns</a:t>
            </a:r>
            <a:endParaRPr lang="en-US" sz="1300" dirty="0"/>
          </a:p>
        </p:txBody>
      </p:sp>
      <p:sp>
        <p:nvSpPr>
          <p:cNvPr id="11" name="data stat 3 card"/>
          <p:cNvSpPr/>
          <p:nvPr/>
        </p:nvSpPr>
        <p:spPr>
          <a:xfrm>
            <a:off x="4663440" y="141732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63440" y="1508760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6CB0"/>
                </a:solidFill>
              </a:rPr>
              <a:t>2014-2017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040941"/>
            <a:ext cx="169164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Order date range</a:t>
            </a:r>
            <a:endParaRPr lang="en-US" sz="1300" dirty="0"/>
          </a:p>
        </p:txBody>
      </p:sp>
      <p:sp>
        <p:nvSpPr>
          <p:cNvPr id="14" name="data stat 4 card"/>
          <p:cNvSpPr/>
          <p:nvPr/>
        </p:nvSpPr>
        <p:spPr>
          <a:xfrm>
            <a:off x="6766560" y="1417320"/>
            <a:ext cx="19659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1508760"/>
            <a:ext cx="1965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2040941"/>
            <a:ext cx="169164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Duplicates or missing</a:t>
            </a:r>
            <a:endParaRPr lang="en-US" sz="1300" dirty="0"/>
          </a:p>
        </p:txBody>
      </p:sp>
      <p:sp>
        <p:nvSpPr>
          <p:cNvPr id="17" name="workflow card"/>
          <p:cNvSpPr/>
          <p:nvPr/>
        </p:nvSpPr>
        <p:spPr>
          <a:xfrm>
            <a:off x="457200" y="2606040"/>
            <a:ext cx="822960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Analysis workflow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Loaded the cleaned CSV into Python with pandas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Checked missing values, duplicate rows and data types; converted dates to datetime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Grouped sales and profit by category, sub-category, product, region, segment, year and discount band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charts to compare profit and margin across 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overview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Technology and Office Supplies earn the profit; Furniture earns little</a:t>
            </a:r>
            <a:endParaRPr lang="en-US" sz="1400" dirty="0"/>
          </a:p>
        </p:txBody>
      </p:sp>
      <p:sp>
        <p:nvSpPr>
          <p:cNvPr id="5" name="kpi 1 card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508760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6CB0"/>
                </a:solidFill>
              </a:rPr>
              <a:t>$2,297,201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955902"/>
            <a:ext cx="237744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Total sales</a:t>
            </a:r>
            <a:endParaRPr lang="en-US" sz="1300" dirty="0"/>
          </a:p>
        </p:txBody>
      </p:sp>
      <p:sp>
        <p:nvSpPr>
          <p:cNvPr id="8" name="kpi 2 card"/>
          <p:cNvSpPr/>
          <p:nvPr/>
        </p:nvSpPr>
        <p:spPr>
          <a:xfrm>
            <a:off x="3246120" y="141732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46120" y="1508760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</a:rPr>
              <a:t>$286,397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955902"/>
            <a:ext cx="237744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Total profit</a:t>
            </a:r>
            <a:endParaRPr lang="en-US" sz="1300" dirty="0"/>
          </a:p>
        </p:txBody>
      </p:sp>
      <p:sp>
        <p:nvSpPr>
          <p:cNvPr id="11" name="kpi 3 card"/>
          <p:cNvSpPr/>
          <p:nvPr/>
        </p:nvSpPr>
        <p:spPr>
          <a:xfrm>
            <a:off x="6035040" y="1417320"/>
            <a:ext cx="26517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1508760"/>
            <a:ext cx="26517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791F"/>
                </a:solidFill>
              </a:rPr>
              <a:t>12.47%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955902"/>
            <a:ext cx="2377440" cy="2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Profit margin</a:t>
            </a:r>
            <a:endParaRPr lang="en-US" sz="1300" dirty="0"/>
          </a:p>
        </p:txBody>
      </p:sp>
      <p:graphicFrame>
        <p:nvGraphicFramePr>
          <p:cNvPr id="14" name="Profit by category chart" descr=""/>
          <p:cNvGraphicFramePr/>
          <p:nvPr/>
        </p:nvGraphicFramePr>
        <p:xfrm>
          <a:off x="457200" y="2423160"/>
          <a:ext cx="49377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atego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606040"/>
          <a:ext cx="3063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868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$836K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17.4%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Office Supplies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$719K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</a:rPr>
                        <a:t>17.0%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Furniture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$742K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2.5%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5623560" y="42519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Furniture has high sales but the lowest profit.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Discounting and profitability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Profit turns negative in the two higher discount bands</a:t>
            </a:r>
            <a:endParaRPr lang="en-US" sz="1400" dirty="0"/>
          </a:p>
        </p:txBody>
      </p:sp>
      <p:graphicFrame>
        <p:nvGraphicFramePr>
          <p:cNvPr id="7" name="discou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463040"/>
                <a:gridCol w="1463040"/>
                <a:gridCol w="1371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Discount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Profit / order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4,798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$1,087,908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$320,987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29.51%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$66.90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1-20%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3,803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$846,522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$100,785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11.91%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$26.50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</a:rPr>
                        <a:t>21-40%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460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$234,138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-$35,817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-15.30%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-$77.86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</a:rPr>
                        <a:t>Over 40%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933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$128,632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-$99,558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-77.40%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-$106.71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Orders with no discount earn a 29.5% margin. Every band above 20% loses money.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Profit by discount band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profit goes negative above a 20% discount</a:t>
            </a:r>
            <a:endParaRPr lang="en-US" sz="1400" dirty="0"/>
          </a:p>
        </p:txBody>
      </p:sp>
      <p:graphicFrame>
        <p:nvGraphicFramePr>
          <p:cNvPr id="5" name="Total profit by discount band chart" descr=""/>
          <p:cNvGraphicFramePr/>
          <p:nvPr/>
        </p:nvGraphicFramePr>
        <p:xfrm>
          <a:off x="457200" y="141732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keaway card"/>
          <p:cNvSpPr/>
          <p:nvPr/>
        </p:nvSpPr>
        <p:spPr>
          <a:xfrm>
            <a:off x="6217920" y="1554480"/>
            <a:ext cx="2468880" cy="28346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465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210312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21-40% and over 40% bands lose money. Over 40% has the largest loss and the weakest margin: −77.4%.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small share of orders causes the loss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Orders discounted above 20%</a:t>
            </a:r>
            <a:endParaRPr lang="en-US" sz="1400" dirty="0"/>
          </a:p>
        </p:txBody>
      </p:sp>
      <p:sp>
        <p:nvSpPr>
          <p:cNvPr id="5" name="impact stat 1 card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14%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 all orders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1,393 of 9,994</a:t>
            </a:r>
            <a:endParaRPr lang="en-US" sz="1400" dirty="0"/>
          </a:p>
        </p:txBody>
      </p:sp>
      <p:sp>
        <p:nvSpPr>
          <p:cNvPr id="9" name="impact stat 2 card"/>
          <p:cNvSpPr/>
          <p:nvPr/>
        </p:nvSpPr>
        <p:spPr>
          <a:xfrm>
            <a:off x="3246120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4612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16%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2461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of total sales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$363K of $2.30M</a:t>
            </a:r>
            <a:endParaRPr lang="en-US" sz="1400" dirty="0"/>
          </a:p>
        </p:txBody>
      </p:sp>
      <p:sp>
        <p:nvSpPr>
          <p:cNvPr id="13" name="impact stat 3 card"/>
          <p:cNvSpPr/>
          <p:nvPr/>
        </p:nvSpPr>
        <p:spPr>
          <a:xfrm>
            <a:off x="6035040" y="15544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3A6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35040" y="1783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0A93B"/>
                </a:solidFill>
              </a:rPr>
              <a:t>-$135K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profit on these orders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 profit is $286K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FB3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profit is lost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Tables is the largest loss-making sub-category</a:t>
            </a:r>
            <a:endParaRPr lang="en-US" sz="1400" dirty="0"/>
          </a:p>
        </p:txBody>
      </p:sp>
      <p:graphicFrame>
        <p:nvGraphicFramePr>
          <p:cNvPr id="5" name="Total profit by sub-category chart" descr=""/>
          <p:cNvGraphicFramePr/>
          <p:nvPr/>
        </p:nvGraphicFramePr>
        <p:xfrm>
          <a:off x="457200" y="1417320"/>
          <a:ext cx="82296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Tables lose almost four times as much as Bookcases and Supplies combined.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products with the biggest losses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Three are printers and two are conference tables</a:t>
            </a:r>
            <a:endParaRPr lang="en-US" sz="1400" dirty="0"/>
          </a:p>
        </p:txBody>
      </p:sp>
      <p:graphicFrame>
        <p:nvGraphicFramePr>
          <p:cNvPr id="11" name="produ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28016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profit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Cubify CubeX 3D Printer Double Head Print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$11,099.96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-$8,879.97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-80.00%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Lexmark MX611dhe Monochrome Laser Printer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$16,829.90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-$4,589.97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-27.27%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Cubify CubeX 3D Printer Triple Head Print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$7,999.98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-$3,839.99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-48.00%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Chromcraft Bull-Nose Wood Oval Conference Tables &amp; Bases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$9,917.64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-$2,876.12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-29.00%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Bush Advantage Collection Racetrack Conference Table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$9,544.72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-$1,934.40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-20.27%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Priority: check pricing, discounts, supplier cost and returns for these products before making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Category margin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Furniture earns a 2.5% margin against about 17% elsewhere</a:t>
            </a:r>
            <a:endParaRPr lang="en-US" sz="1400" dirty="0"/>
          </a:p>
        </p:txBody>
      </p:sp>
      <p:graphicFrame>
        <p:nvGraphicFramePr>
          <p:cNvPr id="5" name="Profit margin by category (%) chart" descr=""/>
          <p:cNvGraphicFramePr/>
          <p:nvPr/>
        </p:nvGraphicFramePr>
        <p:xfrm>
          <a:off x="457200" y="141732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keaway card"/>
          <p:cNvSpPr/>
          <p:nvPr/>
        </p:nvSpPr>
        <p:spPr>
          <a:xfrm>
            <a:off x="6217920" y="1554480"/>
            <a:ext cx="2468880" cy="28346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465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210312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Furniture sells $742K but keeps only $18K. Tables and Bookcases pull it down.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Regional profitability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Central has the weakest margin; West has the strongest</a:t>
            </a:r>
            <a:endParaRPr lang="en-US" sz="1400" dirty="0"/>
          </a:p>
        </p:txBody>
      </p:sp>
      <p:graphicFrame>
        <p:nvGraphicFramePr>
          <p:cNvPr id="5" name="Profit margin by region (%) chart" descr=""/>
          <p:cNvGraphicFramePr/>
          <p:nvPr/>
        </p:nvGraphicFramePr>
        <p:xfrm>
          <a:off x="457200" y="141732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reg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645920"/>
          <a:ext cx="3063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West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$108K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14.9%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East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$92K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13.5%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$47K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11.9%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0392B"/>
                          </a:solidFill>
                        </a:rPr>
                        <a:t>Central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$40K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7.9%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623560" y="37490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Review Central pricing, product mix and discount patterns, and compare with West and East.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Central: similar sales, half the margin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closing the gap with West could mean</a:t>
            </a:r>
            <a:endParaRPr lang="en-US" sz="1400" dirty="0"/>
          </a:p>
        </p:txBody>
      </p:sp>
      <p:sp>
        <p:nvSpPr>
          <p:cNvPr id="5" name="central margin card"/>
          <p:cNvSpPr/>
          <p:nvPr/>
        </p:nvSpPr>
        <p:spPr>
          <a:xfrm>
            <a:off x="457200" y="15544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645920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</a:rPr>
              <a:t>7.9%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31643"/>
            <a:ext cx="237744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Central margin</a:t>
            </a:r>
            <a:endParaRPr lang="en-US" sz="1300" dirty="0"/>
          </a:p>
        </p:txBody>
      </p:sp>
      <p:sp>
        <p:nvSpPr>
          <p:cNvPr id="8" name="west margin card"/>
          <p:cNvSpPr/>
          <p:nvPr/>
        </p:nvSpPr>
        <p:spPr>
          <a:xfrm>
            <a:off x="3246120" y="15544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46120" y="1645920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6CB0"/>
                </a:solidFill>
              </a:rPr>
              <a:t>14.9%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31643"/>
            <a:ext cx="237744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West margin</a:t>
            </a:r>
            <a:endParaRPr lang="en-US" sz="1300" dirty="0"/>
          </a:p>
        </p:txBody>
      </p:sp>
      <p:sp>
        <p:nvSpPr>
          <p:cNvPr id="11" name="central estimate card"/>
          <p:cNvSpPr/>
          <p:nvPr/>
        </p:nvSpPr>
        <p:spPr>
          <a:xfrm>
            <a:off x="6035040" y="1554480"/>
            <a:ext cx="26517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5040" y="1645920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7791F"/>
                </a:solidFill>
              </a:rPr>
              <a:t>~$75K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2631643"/>
            <a:ext cx="237744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Central profit at the West margin (estimate), against $40K today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Central sells $501K, more than South, but earns $40K. Check whether the gap comes from discounts, specific sub-categories or product mix.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Customer segments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Home Office has the strongest margin; Consumer is the largest but weakest</a:t>
            </a:r>
            <a:endParaRPr lang="en-US" sz="1400" dirty="0"/>
          </a:p>
        </p:txBody>
      </p:sp>
      <p:graphicFrame>
        <p:nvGraphicFramePr>
          <p:cNvPr id="5" name="Profit margin by segment (%) chart" descr=""/>
          <p:cNvGraphicFramePr/>
          <p:nvPr/>
        </p:nvGraphicFramePr>
        <p:xfrm>
          <a:off x="457200" y="141732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seg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645920"/>
          <a:ext cx="3063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Consumer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$1.16M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$134K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Corporate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$706K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$92K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Home Office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$430K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84B"/>
                          </a:solidFill>
                        </a:rPr>
                        <a:t>$60K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623560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Consumer brings the most sales, so a small margin gain there has the biggest effect.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Yearly profit trend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Profit rose every year from 2014 to 2017</a:t>
            </a:r>
            <a:endParaRPr lang="en-US" sz="1400" dirty="0"/>
          </a:p>
        </p:txBody>
      </p:sp>
      <p:graphicFrame>
        <p:nvGraphicFramePr>
          <p:cNvPr id="5" name="Total profit by year chart" descr=""/>
          <p:cNvGraphicFramePr/>
          <p:nvPr/>
        </p:nvGraphicFramePr>
        <p:xfrm>
          <a:off x="457200" y="141732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akeaway card"/>
          <p:cNvSpPr/>
          <p:nvPr/>
        </p:nvSpPr>
        <p:spPr>
          <a:xfrm>
            <a:off x="6217920" y="1554480"/>
            <a:ext cx="2468880" cy="283464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4465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46520" y="210312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Profit grew 89% from 2014 to 2017. Growth is positive, but margin is still held back by deep discounts.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Business impact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capping deep discounts could be worth</a:t>
            </a:r>
            <a:endParaRPr lang="en-US" sz="1400" dirty="0"/>
          </a:p>
        </p:txBody>
      </p:sp>
      <p:sp>
        <p:nvSpPr>
          <p:cNvPr id="5" name="impact left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E3A66"/>
          </a:solidFill>
          <a:ln/>
        </p:spPr>
      </p:sp>
      <p:sp>
        <p:nvSpPr>
          <p:cNvPr id="6" name="impact right"/>
          <p:cNvSpPr/>
          <p:nvPr/>
        </p:nvSpPr>
        <p:spPr>
          <a:xfrm>
            <a:off x="475488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E3A6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6459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0A93B"/>
                </a:solidFill>
              </a:rPr>
              <a:t>$135K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lost on 1,393 orders discounted above 20%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6459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12.5% to 18.4%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profit margin if these orders only broke even, and total profit up by about 47%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This is a scenario, not a forecast: it assumes the same sales and break-even on these orders.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9FB3C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Practical actions from the observed patterns</a:t>
            </a:r>
            <a:endParaRPr lang="en-US" sz="1400" dirty="0"/>
          </a:p>
        </p:txBody>
      </p:sp>
      <p:sp>
        <p:nvSpPr>
          <p:cNvPr id="5" name="rec 1 row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6" name="rec number 1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417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 deep discounts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4173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Audit orders above 20%, especially above 40%. Require approval for high discounts.</a:t>
            </a:r>
            <a:endParaRPr lang="en-US" sz="1400" dirty="0"/>
          </a:p>
        </p:txBody>
      </p:sp>
      <p:sp>
        <p:nvSpPr>
          <p:cNvPr id="10" name="rec 1 tag"/>
          <p:cNvSpPr/>
          <p:nvPr/>
        </p:nvSpPr>
        <p:spPr>
          <a:xfrm>
            <a:off x="7635240" y="1554480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E0A9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35240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4B"/>
                </a:solidFill>
              </a:rPr>
              <a:t>High</a:t>
            </a:r>
            <a:endParaRPr lang="en-US" sz="1200" dirty="0"/>
          </a:p>
        </p:txBody>
      </p:sp>
      <p:sp>
        <p:nvSpPr>
          <p:cNvPr id="12" name="rec 2 row"/>
          <p:cNvSpPr/>
          <p:nvPr/>
        </p:nvSpPr>
        <p:spPr>
          <a:xfrm>
            <a:off x="457200" y="205740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3" name="rec number 2"/>
          <p:cNvSpPr/>
          <p:nvPr/>
        </p:nvSpPr>
        <p:spPr>
          <a:xfrm>
            <a:off x="594360" y="2148840"/>
            <a:ext cx="384048" cy="38404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057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Investigate Tables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20574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Break down Tables losses by product, region and discount.</a:t>
            </a:r>
            <a:endParaRPr lang="en-US" sz="1400" dirty="0"/>
          </a:p>
        </p:txBody>
      </p:sp>
      <p:sp>
        <p:nvSpPr>
          <p:cNvPr id="17" name="rec 2 tag"/>
          <p:cNvSpPr/>
          <p:nvPr/>
        </p:nvSpPr>
        <p:spPr>
          <a:xfrm>
            <a:off x="7635240" y="2194560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E0A9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635240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4B"/>
                </a:solidFill>
              </a:rPr>
              <a:t>High</a:t>
            </a:r>
            <a:endParaRPr lang="en-US" sz="1200" dirty="0"/>
          </a:p>
        </p:txBody>
      </p:sp>
      <p:sp>
        <p:nvSpPr>
          <p:cNvPr id="19" name="rec 3 row"/>
          <p:cNvSpPr/>
          <p:nvPr/>
        </p:nvSpPr>
        <p:spPr>
          <a:xfrm>
            <a:off x="457200" y="269748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0" name="rec number 3"/>
          <p:cNvSpPr/>
          <p:nvPr/>
        </p:nvSpPr>
        <p:spPr>
          <a:xfrm>
            <a:off x="594360" y="278892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2697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 loss-making products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26974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pricing, supplier cost and returns for the five products.</a:t>
            </a:r>
            <a:endParaRPr lang="en-US" sz="1400" dirty="0"/>
          </a:p>
        </p:txBody>
      </p:sp>
      <p:sp>
        <p:nvSpPr>
          <p:cNvPr id="24" name="rec 3 tag"/>
          <p:cNvSpPr/>
          <p:nvPr/>
        </p:nvSpPr>
        <p:spPr>
          <a:xfrm>
            <a:off x="7635240" y="2834640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D6E2F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63524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4B"/>
                </a:solidFill>
              </a:rPr>
              <a:t>Medium</a:t>
            </a:r>
            <a:endParaRPr lang="en-US" sz="1200" dirty="0"/>
          </a:p>
        </p:txBody>
      </p:sp>
      <p:sp>
        <p:nvSpPr>
          <p:cNvPr id="26" name="rec 4 row"/>
          <p:cNvSpPr/>
          <p:nvPr/>
        </p:nvSpPr>
        <p:spPr>
          <a:xfrm>
            <a:off x="457200" y="33375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27" name="rec number 4"/>
          <p:cNvSpPr/>
          <p:nvPr/>
        </p:nvSpPr>
        <p:spPr>
          <a:xfrm>
            <a:off x="594360" y="342900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943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" y="3337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Improve Central margin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291840" y="33375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Compare Central discount and product mix with West and East.</a:t>
            </a:r>
            <a:endParaRPr lang="en-US" sz="1400" dirty="0"/>
          </a:p>
        </p:txBody>
      </p:sp>
      <p:sp>
        <p:nvSpPr>
          <p:cNvPr id="31" name="rec 4 tag"/>
          <p:cNvSpPr/>
          <p:nvPr/>
        </p:nvSpPr>
        <p:spPr>
          <a:xfrm>
            <a:off x="7635240" y="3474720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D6E2F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635240" y="3474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4B"/>
                </a:solidFill>
              </a:rPr>
              <a:t>Medium</a:t>
            </a:r>
            <a:endParaRPr lang="en-US" sz="1200" dirty="0"/>
          </a:p>
        </p:txBody>
      </p:sp>
      <p:sp>
        <p:nvSpPr>
          <p:cNvPr id="33" name="rec 5 row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34" name="rec number 5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" y="39776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Track profitability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3291840" y="39776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Track margin next to sales so growth does not hide losses.</a:t>
            </a:r>
            <a:endParaRPr lang="en-US" sz="1400" dirty="0"/>
          </a:p>
        </p:txBody>
      </p:sp>
      <p:sp>
        <p:nvSpPr>
          <p:cNvPr id="38" name="rec 5 tag"/>
          <p:cNvSpPr/>
          <p:nvPr/>
        </p:nvSpPr>
        <p:spPr>
          <a:xfrm>
            <a:off x="7635240" y="4114800"/>
            <a:ext cx="914400" cy="292608"/>
          </a:xfrm>
          <a:prstGeom prst="roundRect">
            <a:avLst>
              <a:gd name="adj" fmla="val 31250"/>
            </a:avLst>
          </a:prstGeom>
          <a:solidFill>
            <a:srgbClr val="D8EDE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635240" y="41148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4B"/>
                </a:solidFill>
              </a:rPr>
              <a:t>Ongoing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findings to action</a:t>
            </a:r>
            <a:endParaRPr lang="en-US" sz="1400" dirty="0"/>
          </a:p>
        </p:txBody>
      </p:sp>
      <p:sp>
        <p:nvSpPr>
          <p:cNvPr id="5" name="step 1 card"/>
          <p:cNvSpPr/>
          <p:nvPr/>
        </p:nvSpPr>
        <p:spPr>
          <a:xfrm>
            <a:off x="457200" y="14630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6" name="step number 1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Now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Pilot a 20% discount cap and audit orders above 40%.</a:t>
            </a:r>
            <a:endParaRPr lang="en-US" sz="1500" dirty="0"/>
          </a:p>
        </p:txBody>
      </p:sp>
      <p:sp>
        <p:nvSpPr>
          <p:cNvPr id="10" name="step 2 card"/>
          <p:cNvSpPr/>
          <p:nvPr/>
        </p:nvSpPr>
        <p:spPr>
          <a:xfrm>
            <a:off x="3246120" y="14630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11" name="step number 2"/>
          <p:cNvSpPr/>
          <p:nvPr/>
        </p:nvSpPr>
        <p:spPr>
          <a:xfrm>
            <a:off x="3474720" y="169164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74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Next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423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Break down Tables losses and the Central region gap by product and discount.</a:t>
            </a:r>
            <a:endParaRPr lang="en-US" sz="1500" dirty="0"/>
          </a:p>
        </p:txBody>
      </p:sp>
      <p:sp>
        <p:nvSpPr>
          <p:cNvPr id="15" name="step 3 card"/>
          <p:cNvSpPr/>
          <p:nvPr/>
        </p:nvSpPr>
        <p:spPr>
          <a:xfrm>
            <a:off x="6035040" y="146304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/>
        </p:spPr>
      </p:sp>
      <p:sp>
        <p:nvSpPr>
          <p:cNvPr id="16" name="step number 3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Later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423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monthly profit dashboard to track margin by region, category and discount band.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Limits of this analysis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the data can and cannot show</a:t>
            </a:r>
            <a:endParaRPr lang="en-US" sz="1400" dirty="0"/>
          </a:p>
        </p:txBody>
      </p:sp>
      <p:sp>
        <p:nvSpPr>
          <p:cNvPr id="5" name="What it shows card"/>
          <p:cNvSpPr/>
          <p:nvPr/>
        </p:nvSpPr>
        <p:spPr>
          <a:xfrm>
            <a:off x="457200" y="1463040"/>
            <a:ext cx="39776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What it shows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Profit falls as discount rises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losses concentrate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Which regions and categories are weak</a:t>
            </a:r>
            <a:endParaRPr lang="en-US" sz="1500" dirty="0"/>
          </a:p>
        </p:txBody>
      </p:sp>
      <p:sp>
        <p:nvSpPr>
          <p:cNvPr id="8" name="What it cannot show card"/>
          <p:cNvSpPr/>
          <p:nvPr/>
        </p:nvSpPr>
        <p:spPr>
          <a:xfrm>
            <a:off x="4709160" y="1463040"/>
            <a:ext cx="3977640" cy="25603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83480" y="1645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What it cannot show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21945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Why losses happen: cost, returns and shipping are not in the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Whether discounts raised sales volume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effect of a cap before it is tested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A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77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6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Saroj Kumar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sarojmahto195@gmail.com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linkedin.com/in/saroj-kumar-bab</a:t>
            </a:r>
            <a:endParaRPr lang="en-US" sz="1400" dirty="0"/>
          </a:p>
        </p:txBody>
      </p:sp>
      <p:sp>
        <p:nvSpPr>
          <p:cNvPr id="6" name="closing shape 1"/>
          <p:cNvSpPr/>
          <p:nvPr/>
        </p:nvSpPr>
        <p:spPr>
          <a:xfrm>
            <a:off x="5852160" y="9144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2B6CB0"/>
          </a:solidFill>
          <a:ln/>
        </p:spPr>
      </p:sp>
      <p:sp>
        <p:nvSpPr>
          <p:cNvPr id="7" name="closing shape 2"/>
          <p:cNvSpPr/>
          <p:nvPr/>
        </p:nvSpPr>
        <p:spPr>
          <a:xfrm>
            <a:off x="7040880" y="219456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2A9D8F"/>
          </a:solidFill>
          <a:ln/>
        </p:spPr>
      </p:sp>
      <p:sp>
        <p:nvSpPr>
          <p:cNvPr id="8" name="closing shape 3"/>
          <p:cNvSpPr/>
          <p:nvPr/>
        </p:nvSpPr>
        <p:spPr>
          <a:xfrm>
            <a:off x="5852160" y="31089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E0A93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uperstore Pro">
  <a:themeElements>
    <a:clrScheme name="Superstore Pro">
      <a:dk1>
        <a:srgbClr val="14284B"/>
      </a:dk1>
      <a:lt1>
        <a:srgbClr val="FFFFFF"/>
      </a:lt1>
      <a:dk2>
        <a:srgbClr val="4A5A70"/>
      </a:dk2>
      <a:lt2>
        <a:srgbClr val="F1F5F9"/>
      </a:lt2>
      <a:accent1>
        <a:srgbClr val="2B6CB0"/>
      </a:accent1>
      <a:accent2>
        <a:srgbClr val="E0A93B"/>
      </a:accent2>
      <a:accent3>
        <a:srgbClr val="C0392B"/>
      </a:accent3>
      <a:accent4>
        <a:srgbClr val="2A9D8F"/>
      </a:accent4>
      <a:accent5>
        <a:srgbClr val="9FB3C9"/>
      </a:accent5>
      <a:accent6>
        <a:srgbClr val="16784F"/>
      </a:accent6>
      <a:hlink>
        <a:srgbClr val="2B6CB0"/>
      </a:hlink>
      <a:folHlink>
        <a:srgbClr val="6A7179"/>
      </a:folHlink>
    </a:clrScheme>
    <a:fontScheme name="Superstore P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Profit Analysis</dc:title>
  <dc:subject>PptxGenJS Presentation</dc:subject>
  <dc:creator>Saroj Kumar</dc:creator>
  <cp:lastModifiedBy>Saroj Kumar</cp:lastModifiedBy>
  <cp:revision>1</cp:revision>
  <dcterms:created xsi:type="dcterms:W3CDTF">2026-10-24T10:08:28Z</dcterms:created>
  <dcterms:modified xsi:type="dcterms:W3CDTF">2026-10-24T10:08:28Z</dcterms:modified>
</cp:coreProperties>
</file>